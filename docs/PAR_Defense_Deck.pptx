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7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8"/>
    <p:restoredTop sz="88303"/>
  </p:normalViewPr>
  <p:slideViewPr>
    <p:cSldViewPr snapToGrid="0" snapToObjects="1">
      <p:cViewPr>
        <p:scale>
          <a:sx n="197" d="100"/>
          <a:sy n="197" d="100"/>
        </p:scale>
        <p:origin x="14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SG" sz="1200" b="0" i="0" u="none" strike="noStrike">
                <a:solidFill>
                  <a:srgbClr val="1B2A4A"/>
                </a:solidFill>
                <a:latin typeface="Arial"/>
              </a:rPr>
              <a:t>Headgear class distribution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NoHeadgear</c:v>
                </c:pt>
                <c:pt idx="1">
                  <c:v>Cap</c:v>
                </c:pt>
                <c:pt idx="2">
                  <c:v>Helmet</c:v>
                </c:pt>
                <c:pt idx="3">
                  <c:v>Hood</c:v>
                </c:pt>
                <c:pt idx="4">
                  <c:v>Hat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67515</c:v>
                </c:pt>
                <c:pt idx="1">
                  <c:v>1200</c:v>
                </c:pt>
                <c:pt idx="2">
                  <c:v>800</c:v>
                </c:pt>
                <c:pt idx="3">
                  <c:v>450</c:v>
                </c:pt>
                <c:pt idx="4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F2-7B46-AD2E-D3E0F2E61D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SG" sz="1100" b="0" i="0" u="none" strike="noStrike">
                <a:solidFill>
                  <a:srgbClr val="1B2A4A"/>
                </a:solidFill>
                <a:latin typeface="Arial"/>
              </a:rPr>
              <a:t>Macro-F1 (%) by attribute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0D8B7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Age</c:v>
                </c:pt>
                <c:pt idx="1">
                  <c:v>Headgear</c:v>
                </c:pt>
                <c:pt idx="2">
                  <c:v>Gender</c:v>
                </c:pt>
                <c:pt idx="3">
                  <c:v>Glasses</c:v>
                </c:pt>
                <c:pt idx="4">
                  <c:v>UBColor</c:v>
                </c:pt>
                <c:pt idx="5">
                  <c:v>LBColor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93.34</c:v>
                </c:pt>
                <c:pt idx="1">
                  <c:v>88.49</c:v>
                </c:pt>
                <c:pt idx="2">
                  <c:v>95.41</c:v>
                </c:pt>
                <c:pt idx="3">
                  <c:v>74.25</c:v>
                </c:pt>
                <c:pt idx="4">
                  <c:v>76.88</c:v>
                </c:pt>
                <c:pt idx="5">
                  <c:v>70.11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7B-F446-B4BD-CBB12DEFA0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524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60-sec opening: I built a single multi-task person attribute recognition system. One ConvNeXt-Small backbone feeds six classification heads. I handled identity leakage in the data, extreme class imbalance (469:1 for headgear), and color-safe augmentations. The model is checkpointed on validation macro-F1 and packaged for reproducible inference.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PITCH: I built a single ConvNeXt-Small backbone that extracts a 768-dim feature vector from each 256x128 person crop. Six lightweight linear heads predict Age, Headgear, Gender, Glasses, Upper-body color, and Lower-body color. I used group-aware splitting to prevent identity leakage, color-safe augmentations to protect clothing labels, focal loss with inverse-sqrt class weights for extreme imbalance, and homoscedastic uncertainty weighting to balance six tasks. The model is evaluated on validation mean macro-F1 and checkpointed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every requirement from the brief maps to a specific cell in my notebook. The checklist proves completeness. Grilling Q: 'Did you miss anything?' A: 'No — I also added bonus cells for per-class diagnostics, threshold sweeps, TTA comparison, TorchScript export, and an auto-generated model card.'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Grilling Q: 'Why not YOLO?' A: 'YOLO is an object detector — it finds bounding boxes in full frames. Our images are already cropped person images, so detection is unnecessary. This task needs image-level classification, which is exactly what a CNN backbone + classification heads provides.'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Grilling Q: 'Is ConvNeXt the best?' A: 'It was the best practical choice under my constraints: 70k images, Colab T4, six tasks, single model. With more resources I would benchmark EfficientNetV2, Swin Transformer, and DINOv2.' Q: 'Why Small not Tiny/Base?' A: 'Tiny (28M) might underfit 6 tasks. Base (89M) risks OOM. Small (50M) is the capacity sweet spot.'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explanation: ConvNeXt keeps the core strength of CNNs — convolutions that capture spatial patterns — but upgrades the building blocks: larger kernels for bigger receptive field, LayerNorm for stable training, GELU for smoother gradients, and patchify stem instead of aggressive max pooling. Result: ViT-level accuracy with CNN efficiency.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walkthrough: timm.create_model('convnext_small', pretrained=True, num_classes=0, global_pool='avg'). num_classes=0 strips the 1000-class ImageNet head. global_pool='avg' averages the 8×4×768 feature map to [batch, 768]. Each head is nn.Linear(768, num_classes). ModuleDict ensures PyTorch tracks all parameters. log_vars are 6 learnable scalars for task weighting.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Grilling Q: 'What is hard vs soft parameter sharing?' A: 'Hard = one shared backbone, separate heads. Soft = separate backbones regularized to stay similar. Hard is simpler and often better when tasks are related.'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Grilling Q: 'How did you know there was leakage?' A: 'The filename convention 0002_c1s1 is from Market-1501, a person re-identification dataset. The first 4 digits are the person ID. Multiple images per person exist across cameras. I verified by extracting IDs and checking — many IDs have 10+ images.'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Grilling Q: 'Why not just seed 42?' A: 'Seed 42 is a convention for reproducibility. But different seeds produce different group splits with different class distribution drifts. I searched 100 seeds and scored each on distribution fidelity + split ratio quality. Seed 27 had the lowest combined score.' Q: 'Why 100 seeds?' A: 'Diminishing returns beyond 100. Each iteration is cheap — just a GroupShuffleSplit, no training.'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Grilling Q: 'Why not use standard augmentation?' A: 'Standard augmentation includes hue/saturation jitter, which would change a red shirt to blue. But the CSV label still says Red. This silently corrupts ground truth for UBColor and LBColor. I restricted augmentations to geometry, luminance, and CCTV-style artifacts.'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Grilling Q: 'Why not 224×224 like ImageNet default?' A: 'People have a 2:1 height:width ratio. Forcing them into a square distorts body proportions — head becomes too large, legs too short. This hurts spatial features the backbone relies on. 256×128 preserves the natural geometry and is standard in Re-ID/PAR literature.'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dramatic imbalance in the dataset. Accuracy is useless here — a majority-class classifier scores 96.5% while detecting zero hats. This is why I use Macro-F1 for model selection: it treats every class equally.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axes are orthogonal: (1) class weights adjust the prior, (2) focal loss adjusts the per-sample difficulty, (3) uncertainty weighting balances across six different tasks. Without any one of these, the model collapses to majority-class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Grilling Q: 'Why gamma=2 and not 3 or 5?' A: 'gamma=2 is the standard value from the original Focal Loss paper. Higher gamma would too aggressively ignore easy samples, risking unstable training. Lower gamma would not modulate enough.' Q: 'Why not just use class weights alone?' A: 'Class weights adjust the expected loss by class frequency. Focal loss adjusts by sample difficulty. Together they handle both dimensions of imbalance.'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Imagine 6 students taking exams of different difficulty. If you grade them all the same, the hard-exam student gets destroyed. log_var is a difficulty adjustment the model learns. Q: 'Why can the loss go negative?' A: 'The +log_var regularizer can make the total negative. This is mathematically valid — it is why I checkpoint on val macro-F1, not raw loss.'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unified run_epoch() handles both train and eval. model.train() enables dropout; model.eval() disables it. Validation does NOT compute gradients — set_grad_enabled(False). GradScaler prevents fp16 gradient underflow. Scheduler halves LR when val macro-F1 stalls for 1 epoch.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'Why not weighted F1?' A: 'Weighted F1 gives more importance to frequent classes — it would still let majority classes dominate. Macro F1 treats every class equally, which is exactly what we need for rare class detection.'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attribute. Age and Gender are strong because they have large visual regions. Headgear is impressive given the 469:1 imbalance — Focal Loss is working. Glasses and LBColor are weaker because: glasses are tiny in 256×128 crops, and lower-body is often occluded or in shadow.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transparent about failures is a strength. Shows you understand your model's limitations. Grilling Q: 'What would fix LBColor?' A: 'More diverse lighting in training data, attention mechanisms that force the model to look at lower body regions, or a hierarchical approach with a body-part detector.'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checkpoint saves not just weights but also label_maps, inv_label_maps, target_cols, image dimensions, and model name. Anyone can load this and run inference without needing the training code. TorchScript export in Cell 26 makes it framework-independent.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'I did not chase the flashiest model or the highest-accuracy-at-all-costs approach. I focused on three things: understanding the data (leakage, imbalance, color sensitivity), making principled engineering decisions (ConvNeXt, focal loss, uncertainty weighting), and building a reproducible, deployable system. With more time I would add ablation studies, try EfficientNetV2 and Swin, add Grad-CAM interpretability, and export to ONNX/TensorRT for production deployment.'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914400"/>
            <a:ext cx="6400800" cy="2560320"/>
          </a:xfrm>
          <a:prstGeom prst="roundRect">
            <a:avLst>
              <a:gd name="adj" fmla="val 5357"/>
            </a:avLst>
          </a:prstGeom>
          <a:solidFill>
            <a:srgbClr val="0F1B2D"/>
          </a:solidFill>
          <a:ln w="19050">
            <a:solidFill>
              <a:srgbClr val="3A50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00200" y="1097280"/>
            <a:ext cx="164592" cy="164592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828800" y="1097280"/>
            <a:ext cx="164592" cy="164592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57400" y="1097280"/>
            <a:ext cx="164592" cy="164592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91640" y="1417320"/>
            <a:ext cx="5760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CHECK] Leak-proof data pipeline ...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CHECK] Multi-task hard-parameter sharing ...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F8C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 CHECK] Focal loss + uncertainty weighting ...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99321" y="3680460"/>
            <a:ext cx="674535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Multi-Task ConvNeXt for Person Attribute Recognition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backbone. Six attribute heads. Leakage-safe evaluation.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3716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D5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Anand  |  ML Engineer Interview  |  Cynapse</a:t>
            </a:r>
            <a:endParaRPr lang="en-US" sz="1100" dirty="0">
              <a:solidFill>
                <a:srgbClr val="FD574C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417B6D-7F68-1164-F370-26AE1A0F0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8653"/>
            <a:ext cx="1307592" cy="27148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506B9F-35F8-C53B-16AA-3D9FFA2CB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6576" y="0"/>
            <a:ext cx="1357424" cy="27148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F894D7-60DB-0E77-9F64-D618C3A8A5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" y="-4279"/>
            <a:ext cx="1299118" cy="239864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CA26037-AC93-3002-6138-E1F35BEE24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8225" y="2686498"/>
            <a:ext cx="1371599" cy="27431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pipeline in 60 seconds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097280" cy="1463040"/>
          </a:xfrm>
          <a:prstGeom prst="roundRect">
            <a:avLst>
              <a:gd name="adj" fmla="val 8333"/>
            </a:avLst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3×256×128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1188720"/>
            <a:ext cx="1280160" cy="1463040"/>
          </a:xfrm>
          <a:prstGeom prst="roundRect">
            <a:avLst>
              <a:gd name="adj" fmla="val 7143"/>
            </a:avLst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54480" y="1371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Color-safe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C3E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hue jitter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17520" y="1188720"/>
            <a:ext cx="1280160" cy="1463040"/>
          </a:xfrm>
          <a:prstGeom prst="roundRect">
            <a:avLst>
              <a:gd name="adj" fmla="val 7143"/>
            </a:avLst>
          </a:prstGeom>
          <a:solidFill>
            <a:srgbClr val="2D6A9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17520" y="13716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ConvNeXt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backbone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188720"/>
            <a:ext cx="1097280" cy="1463040"/>
          </a:xfrm>
          <a:prstGeom prst="roundRect">
            <a:avLst>
              <a:gd name="adj" fmla="val 8333"/>
            </a:avLst>
          </a:prstGeom>
          <a:solidFill>
            <a:srgbClr val="0D8B7D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768-dim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148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 pool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83464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297680" y="17373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943600" y="73152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731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1920240"/>
            <a:ext cx="365760" cy="0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0" y="1207008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0" y="12070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Headgear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920240"/>
            <a:ext cx="365760" cy="0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43600" y="1682496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16824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1920240"/>
            <a:ext cx="365760" cy="0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43600" y="2157984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0" y="215798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77840" y="1920240"/>
            <a:ext cx="365760" cy="429768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43600" y="2633472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263347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UBColor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1920240"/>
            <a:ext cx="365760" cy="905256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943600" y="310896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3108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LBColor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1920240"/>
            <a:ext cx="365760" cy="1380744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40880" y="1737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 predictions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3648456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85616"/>
            <a:ext cx="320040" cy="32004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005840" y="36484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split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3383280" y="3648456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785616"/>
            <a:ext cx="320040" cy="32004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3931920" y="36484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+ uncertainty</a:t>
            </a:r>
            <a:endParaRPr lang="en-US" sz="1200" dirty="0"/>
          </a:p>
        </p:txBody>
      </p:sp>
      <p:sp>
        <p:nvSpPr>
          <p:cNvPr id="43" name="Shape 39"/>
          <p:cNvSpPr/>
          <p:nvPr/>
        </p:nvSpPr>
        <p:spPr>
          <a:xfrm>
            <a:off x="6309360" y="3648456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785616"/>
            <a:ext cx="320040" cy="32004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858000" y="36484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evaluation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pass, all six attributes. 50M parameters. Runs on Colab T4.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assignment requirement is covered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313080"/>
              </p:ext>
            </p:extLst>
          </p:nvPr>
        </p:nvGraphicFramePr>
        <p:xfrm>
          <a:off x="365760" y="979169"/>
          <a:ext cx="8412480" cy="3607013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33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images/labels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PARTaskDataset + cv2.imread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Preprocessing/augmentation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Albumentations color-safe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Batching/validation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DataLoader, batch=32, group split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encoding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 train-only label_maps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 training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25-epoch loop + early stopping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best checkpoint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best_model.pth on val macro-F1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Per-epoch CSV logging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training_log.csv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Accuracy/Recall/F1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compute_metrics() per attribute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Confusion matrices + diagnostics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13, 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predictions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test_predictions.csv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annotated crops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OpenCV HUD overlay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613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model (not six)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MultiTaskPAR shared backbone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classification, not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(YOLO)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54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WHERE people are in a full frame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bounding boxes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tool when images are already cropped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91440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0515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8B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 (PAR)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120640" y="15544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WHAT attributes a person has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is already a single person crop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Multi-label: age, gender, clothing, etc.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dataset: ~70,000 pre-cropped person images. No localization needed.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ConvNeXt-Small was the best practical choice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417673"/>
              </p:ext>
            </p:extLst>
          </p:nvPr>
        </p:nvGraphicFramePr>
        <p:xfrm>
          <a:off x="365759" y="777240"/>
          <a:ext cx="8539701" cy="3138779"/>
        </p:xfrm>
        <a:graphic>
          <a:graphicData uri="http://schemas.openxmlformats.org/drawingml/2006/table">
            <a:tbl>
              <a:tblPr/>
              <a:tblGrid>
                <a:gridCol w="1808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5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7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6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70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39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ConvNeXt-S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3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task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8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3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(det.)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8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3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70k image efficiency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more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Overkill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8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3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Multi-head easy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8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3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 T4 feasible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D8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3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0" y="4235394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2286000" y="423539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practical fit under constraints — not claimed as universally best.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7450" y="286247"/>
            <a:ext cx="86205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ConvNeXt modernizes CNNs with transformer tricks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92087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D6D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CNN (ResNet)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convolutions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 stem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kernels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2389367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846320" y="1292087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005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8B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ConvNeXt (2022)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120640" y="14630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 depthwise convolutions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Normalization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GELU activation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Patchify stem (4×4 conv)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bottleneck blocks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75367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CNN core concept, but upgraded with everything that made Vision Transformers successful.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backbone, six heads, one forward pass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2801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3×256×128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37360" y="109728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2D6A9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37360" y="12344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ConvNeXt-Small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pretrained=True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num_classes=0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566160" y="1463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31920" y="1097280"/>
            <a:ext cx="1188720" cy="1280160"/>
          </a:xfrm>
          <a:prstGeom prst="roundRect">
            <a:avLst>
              <a:gd name="adj" fmla="val 7692"/>
            </a:avLst>
          </a:prstGeom>
          <a:solidFill>
            <a:srgbClr val="0D8B7D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0" y="1234440"/>
            <a:ext cx="1188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pool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713298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71329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737360"/>
            <a:ext cx="640080" cy="0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60720" y="1284798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20" y="120700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Headgear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1737360"/>
            <a:ext cx="640080" cy="0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760720" y="1865376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186537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737360"/>
            <a:ext cx="640080" cy="379476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0" y="2523744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0" y="252374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1737360"/>
            <a:ext cx="640080" cy="1037844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60720" y="3182112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0" y="31821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UBColor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1737360"/>
            <a:ext cx="640080" cy="1696212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760720" y="384048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E8EC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0720" y="3840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LBColor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1737360"/>
            <a:ext cx="640080" cy="2354580"/>
          </a:xfrm>
          <a:prstGeom prst="line">
            <a:avLst/>
          </a:prstGeom>
          <a:noFill/>
          <a:ln w="889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nn.Linear(768, 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2286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nn.ModuleDict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5948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num_classes=0 removes ImageNet head  |  global_pool='avg' collapses spatial dims  |  ModuleDict registers heads as parameters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shared backbone beats six separate models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separate models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parameters (300M total)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inference cost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visual learning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Violates assignment rules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deployment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8229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60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960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D8B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shared backbone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120640" y="14630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 parameters total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forward pass for all 6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share visual features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compliant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to deploy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Hard-parameter sharing: clothing color features help body localization, which helps age/gender.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splitting causes identity leakage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trap: train_test_split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4630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Filename 0002_c1s1 reveals Person ID 0002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 appears in train AND test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memorizes faces, not attributes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is inflated and meaningless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846320" y="82296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60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fix: GroupShuffleSplit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120640" y="146304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Person ID from filename via regex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of one person stay in ONE split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identity overlap verified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must generalize to strangers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shares origins with Market-1501 (Re-ID). Ignoring person IDs would be catastrophic.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Monte Carlo seed search selects the optimal split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 IDs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filenames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0" y="914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seeds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each split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quality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+ size penalty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949440" y="9144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E8F6F3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1005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Seed 27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Pareto-optimal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2560320"/>
            <a:ext cx="6400800" cy="1645920"/>
          </a:xfrm>
          <a:prstGeom prst="roundRect">
            <a:avLst>
              <a:gd name="adj" fmla="val 5556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45920" y="2697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56,040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(80.0%)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697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6,939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20040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(9.9%)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697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7,021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(10.0%)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6974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30936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(verified)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mean_class_drift + 0.5 × size_penalty. Seed 27 minimizes both.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Color-safe augmentations protect clothing labels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Approved (geometry + CCTV sim)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256×128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HorizontalFlip (p=0.5)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Affine: ±5° rotation, ±3% shift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GaussNoise (CCTV artifact)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ImageCompression (JPEG artifact)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RandomBrightnessContrast (±10%)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46320" y="8229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960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496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Banned (color-altering)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120640" y="137160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HueSaturationValue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ColorJitter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ChannelShuffle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shirt shifted to green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label still says 'Red'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silently corrupted ground truth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six targets are clothing colors. Hue jitter poisons the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256×128 preserves pedestrian geometry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399" y="1097280"/>
            <a:ext cx="2816087" cy="2743200"/>
          </a:xfrm>
          <a:prstGeom prst="roundRect">
            <a:avLst>
              <a:gd name="adj" fmla="val 3333"/>
            </a:avLst>
          </a:prstGeom>
          <a:solidFill>
            <a:srgbClr val="FDE8E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Squashes the body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aspect ratio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1371600" cy="2743200"/>
          </a:xfrm>
          <a:prstGeom prst="roundRect">
            <a:avLst>
              <a:gd name="adj" fmla="val 6667"/>
            </a:avLst>
          </a:prstGeom>
          <a:solidFill>
            <a:srgbClr val="E8F6F3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× 128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 ratio</a:t>
            </a:r>
            <a:endParaRPr lang="en-US" sz="18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body shape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Pedestrians are tall and narrow. 2:1 aspect ratio is standard in person Re-ID and PAR literature.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4861" y="248478"/>
            <a:ext cx="855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469:1 class imbalance makes accuracy meaningless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22960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675120" y="137160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675120" y="13716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469:1</a:t>
            </a:r>
            <a:endParaRPr lang="en-US" sz="3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3200" dirty="0"/>
          </a:p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predicting</a:t>
            </a:r>
            <a:endParaRPr lang="en-US" sz="3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'NoHeadgear' always</a:t>
            </a:r>
            <a:endParaRPr lang="en-US" sz="32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96.5% accuracy</a:t>
            </a:r>
            <a:endParaRPr lang="en-US" sz="3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0% Hat recall.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037" y="228600"/>
            <a:ext cx="84946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techniques attack imbalance on three axes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560320" cy="548640"/>
          </a:xfrm>
          <a:prstGeom prst="rect">
            <a:avLst/>
          </a:prstGeom>
          <a:solidFill>
            <a:srgbClr val="2D6A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Within-class prior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Inverse-sqrt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weights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1/√count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Softens 469× to ~21×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82296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822960"/>
            <a:ext cx="2560320" cy="548640"/>
          </a:xfrm>
          <a:prstGeom prst="rect">
            <a:avLst/>
          </a:prstGeom>
          <a:solidFill>
            <a:srgbClr val="0D8B7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Within-class posterior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Focal Loss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gamma=2.0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 × (1 - conf)²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Ignores easy samples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82296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F4F6F8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822960"/>
            <a:ext cx="2560320" cy="548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822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Across-task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Homoscedastic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uncertainty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4688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× exp(-σ) + σ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D6D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Auto-balances 6 tasks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these ensure rare classes get attention without destabilizing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Focal loss focuses gradients on hard examples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sample (NoHeadgear)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99% confident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multiplied by (1-0.99)² = 0.0001</a:t>
            </a:r>
            <a:endParaRPr lang="en-US" sz="14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almost zero → ignored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9144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0" y="100584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sample (Hat)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only 20% confident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multiplied by (1-0.2)² = 0.64</a:t>
            </a:r>
            <a:endParaRPr lang="en-US" sz="14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stays high → learned from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3108960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3108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FocalLoss  =  CrossEntropy  ×  (1 − confidence)^gamma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gamma=2.0 is the industry standard from Lin et al. 2017 (RetinaNet).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learns how to balance six tasks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097280"/>
            <a:ext cx="822960" cy="822960"/>
          </a:xfrm>
          <a:prstGeom prst="ellipse">
            <a:avLst/>
          </a:prstGeom>
          <a:solidFill>
            <a:srgbClr val="F4F6F8"/>
          </a:solidFill>
          <a:ln w="1905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1097280"/>
            <a:ext cx="822960" cy="822960"/>
          </a:xfrm>
          <a:prstGeom prst="ellipse">
            <a:avLst/>
          </a:prstGeom>
          <a:solidFill>
            <a:srgbClr val="F4F6F8"/>
          </a:solidFill>
          <a:ln w="1905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745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Headgear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097280"/>
            <a:ext cx="822960" cy="822960"/>
          </a:xfrm>
          <a:prstGeom prst="ellipse">
            <a:avLst/>
          </a:prstGeom>
          <a:solidFill>
            <a:srgbClr val="F4F6F8"/>
          </a:solidFill>
          <a:ln w="1905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822960" cy="822960"/>
          </a:xfrm>
          <a:prstGeom prst="ellipse">
            <a:avLst/>
          </a:prstGeom>
          <a:solidFill>
            <a:srgbClr val="F4F6F8"/>
          </a:solidFill>
          <a:ln w="1905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55080" y="1097280"/>
            <a:ext cx="822960" cy="822960"/>
          </a:xfrm>
          <a:prstGeom prst="ellipse">
            <a:avLst/>
          </a:prstGeom>
          <a:solidFill>
            <a:srgbClr val="F4F6F8"/>
          </a:solidFill>
          <a:ln w="1905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UBColor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0" y="1097280"/>
            <a:ext cx="822960" cy="822960"/>
          </a:xfrm>
          <a:prstGeom prst="ellipse">
            <a:avLst/>
          </a:prstGeom>
          <a:solidFill>
            <a:srgbClr val="F4F6F8"/>
          </a:solidFill>
          <a:ln w="1905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54380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LBColor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learnable log_var parameters (initialized at 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371600" y="283464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2834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weighted_loss  =  task_loss × exp(−log_var)  +  log_var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task (Gender) → log_var increases → lower weight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task (Headgear) → log_var stays low → higher weight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+log_var term prevents cheating (setting all weights to zero)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Kendall et al. 2018: Multi-Task Learning Using Uncertainty to Weigh Losses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675" y="182880"/>
            <a:ext cx="8567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loop: forward, loss, backward, checkpoint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→ GPU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+ labels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822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2D6A9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pass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autocast(fp16)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309360" y="82296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0D8B7D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0936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6× Focal Loss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loss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E67E22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Uncertainty weighting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exp(−σ) + σ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38328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2D6A9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Backward + AdamW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GradScaler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309360" y="29260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27AE6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3108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 macro-F1?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3703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if best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epochs max | early stopping patience=5 | ReduceLROnPlateau factor=0.5 patience=1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Macro-F1 forces every class to matter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D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lie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NoHeadgear every time:</a:t>
            </a:r>
            <a:endParaRPr lang="en-US" sz="1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0% recall on Hat, Cap, Hood, Helmet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846320" y="8229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macro-F1 truth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F1 per class separately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equally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class carries equal weight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with 144 samples matters as much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NoHeadgear with 67,515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 is strictly on validation mean macro-F1 across all six tasks.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mean macro-F1: 0.8308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E8F6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8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0.8308</a:t>
            </a:r>
            <a:endParaRPr lang="en-US" sz="3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Mean Macro-F1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777240"/>
          <a:ext cx="5303520" cy="1813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Headgear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LBColor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963431871"/>
              </p:ext>
            </p:extLst>
          </p:nvPr>
        </p:nvGraphicFramePr>
        <p:xfrm>
          <a:off x="457200" y="2780306"/>
          <a:ext cx="82296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large visible traits (age, gender). Weaker on small/ambiguous cues (glasses, lower-body color).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057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Failures concentrate where visual evidence is weak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73152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Lower-body color confusion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234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dark colors (black vs blue vs gray) get confused. Lower body is often in shadow or occluded.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303520" y="1051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Better lighting normalization, attention on lower regions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1488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65760" y="2148840"/>
            <a:ext cx="73152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860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Glasses: small visual region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05840" y="2606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occupy very few pixels in a 256×128 crop. Model lacks spatial resolution to reliably detect them.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0352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Higher resolution or face-crop branch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35204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520440"/>
            <a:ext cx="73152" cy="11887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5760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shift in external crops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0584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low-res CCTV, top-down angle. External: HD, eye-level. Visual gap causes confidence drop.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30352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Domain adaptation, CCTV-style augmentation (partially done)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is packaged as a deployable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people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188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9144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E8ECF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5740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Cropper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256×128 resize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11880" y="1188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9144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D6A9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+ 6 heads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94960" y="1188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623560" y="9144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0D8B7D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2356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56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78040" y="11887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914400"/>
            <a:ext cx="1554480" cy="1188720"/>
          </a:xfrm>
          <a:prstGeom prst="roundRect">
            <a:avLst>
              <a:gd name="adj" fmla="val 7692"/>
            </a:avLst>
          </a:prstGeom>
          <a:solidFill>
            <a:srgbClr val="27AE60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0" y="10058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output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1600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predictions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46888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F4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deliverables</a:t>
            </a:r>
            <a:endParaRPr lang="en-US" sz="14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1440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best_model.pth with label maps</a:t>
            </a:r>
            <a:endParaRPr lang="en-US" sz="11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74720"/>
            <a:ext cx="201168" cy="20116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1440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training_log.csv (per-epoch)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91440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test_predictions.csv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01752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02920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+ learning curves</a:t>
            </a:r>
            <a:endParaRPr lang="en-US" sz="11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474720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29200" y="3456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crop annotations</a:t>
            </a:r>
            <a:endParaRPr lang="en-US" sz="11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931920"/>
            <a:ext cx="201168" cy="20116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29200" y="3913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TorchScript export + latency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summary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split (GroupShuffleSplit + 100-seed search)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508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Color-safe preprocessing (no hue jitter)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CNN backbone (ConvNeXt-Small, pretrained)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60320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multi-task architecture (one backbone, six heads)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 loss (inverse-sqrt + focal + uncertainty)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66160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0584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Macro-F1-based evaluation and checkpointing</a:t>
            </a:r>
            <a:endParaRPr lang="en-US" sz="1400" dirty="0"/>
          </a:p>
        </p:txBody>
      </p:sp>
      <p:sp>
        <p:nvSpPr>
          <p:cNvPr id="15" name="Shape 7"/>
          <p:cNvSpPr/>
          <p:nvPr/>
        </p:nvSpPr>
        <p:spPr>
          <a:xfrm>
            <a:off x="914400" y="393192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0F1B2D"/>
          </a:solidFill>
          <a:ln w="12700">
            <a:solidFill>
              <a:srgbClr val="0D8B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8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8B7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optimized for the task, the data, and reproducible evaluation.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improve with more time: ablation study, backbone comparison, discriminative LRs, Grad-CAM, calibration, more rare headgear data, ONNX/TensorRT.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2999</Words>
  <Application>Microsoft Macintosh PowerPoint</Application>
  <PresentationFormat>On-screen Show (16:9)</PresentationFormat>
  <Paragraphs>435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Multi-Task ConvNeXt for Person Attribute Recognition</dc:title>
  <dc:subject>PptxGenJS Presentation</dc:subject>
  <dc:creator>Aishwarya Anand</dc:creator>
  <cp:lastModifiedBy>#AISHWARYA ANAND#</cp:lastModifiedBy>
  <cp:revision>4</cp:revision>
  <dcterms:created xsi:type="dcterms:W3CDTF">2026-05-06T05:44:47Z</dcterms:created>
  <dcterms:modified xsi:type="dcterms:W3CDTF">2026-05-06T15:56:09Z</dcterms:modified>
</cp:coreProperties>
</file>